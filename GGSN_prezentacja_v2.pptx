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pl-PL" sz="1200" b="0" i="0" u="none" strike="noStrike">
                <a:solidFill>
                  <a:srgbClr val="334155"/>
                </a:solidFill>
                <a:latin typeface="Arial"/>
              </a:rPr>
              <a:t>InfoNCE Loss (CPU, epoki 1–6)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4.0707000000000004</c:v>
                </c:pt>
                <c:pt idx="1">
                  <c:v>3.9401999999999999</c:v>
                </c:pt>
                <c:pt idx="2">
                  <c:v>3.8458999999999999</c:v>
                </c:pt>
                <c:pt idx="3">
                  <c:v>3.77</c:v>
                </c:pt>
                <c:pt idx="4">
                  <c:v>3.7040999999999999</c:v>
                </c:pt>
                <c:pt idx="5">
                  <c:v>3.6362000000000001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CB5-4DFD-9848-E1EE8596D5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8100" cap="flat">
              <a:solidFill>
                <a:srgbClr val="06D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D6A0"/>
              </a:solidFill>
              <a:ln w="9525" cap="flat">
                <a:solidFill>
                  <a:srgbClr val="06D6A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3.9792999999999998</c:v>
                </c:pt>
                <c:pt idx="1">
                  <c:v>3.9216000000000002</c:v>
                </c:pt>
                <c:pt idx="2">
                  <c:v>3.8831000000000002</c:v>
                </c:pt>
                <c:pt idx="3">
                  <c:v>3.87</c:v>
                </c:pt>
                <c:pt idx="4">
                  <c:v>3.8184</c:v>
                </c:pt>
                <c:pt idx="5">
                  <c:v>3.8923999999999999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CB5-4DFD-9848-E1EE8596D5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Baseline ln(64)</c:v>
                </c:pt>
              </c:strCache>
            </c:strRef>
          </c:tx>
          <c:spPr>
            <a:ln w="38100" cap="flat">
              <a:solidFill>
                <a:srgbClr val="F77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7F00"/>
              </a:solidFill>
              <a:ln w="9525" cap="flat">
                <a:solidFill>
                  <a:srgbClr val="F77F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4.1589999999999998</c:v>
                </c:pt>
                <c:pt idx="1">
                  <c:v>4.1589999999999998</c:v>
                </c:pt>
                <c:pt idx="2">
                  <c:v>4.1589999999999998</c:v>
                </c:pt>
                <c:pt idx="3">
                  <c:v>4.1589999999999998</c:v>
                </c:pt>
                <c:pt idx="4">
                  <c:v>4.1589999999999998</c:v>
                </c:pt>
                <c:pt idx="5">
                  <c:v>4.1589999999999998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CB5-4DFD-9848-E1EE8596D5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3"/>
          <c:min val="3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E6D791A6-ABAA-7F68-A50B-43180D7F229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524750" cy="466725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27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1 (Cel i motywacja) | ok. 35 sek.
Patrzymy na pacjenta w czasie: z notatek i z monitora chcemy oszacować ryzyko zgonu w trakcie hospitalizacji. Problem jest trudny, bo etykiety (mortality) są skąpe na wejściu treningu, więc używamy contrastive learning, żeby nauczyć wspólnego języka dla tekstu i sygnałów bez ich bezpośredniego użycia.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2 (Pipeline) | ok. 45 sek.
Najpierw budujemy reprezentacje dla tekstu i sygnałów bez etykiet śmiertelności (Faza 1). Potem dokładamy dynamikę: w Fazie 2 poruszamy się po grafie zdarzeń, a czas między nimi jest jawnie kodowany jako Δt. Embeddingi z Fazy 1 są zamrożone i przechodzą wprost jako atrybuty węzłów do GNN-a.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3 (Two-Tower + InfoNCE) | ok. 55 sek.
Animacja (36s) pokazuje krok po kroku przepływ przez obie wieże:
- Krok 1: batch B=4 par wchodzi do Text Tower (Bio_ClinicalBERT + proj) i Signal Tower (Embed + 1D-CNN)
- Wynik: z_text i z_signal ∈ ℝ¹²⁸, oba L2-znormalizowane
- Krok 2: macierz podobieństw (B×B) — diagonal = positive pairs (ta sama notatka ↔ sygnał)
- Krok 3: InfoNCE 'przyciąga' diagonal, 'odpycha' off-diagonal. T=0.07 → ostry kontrast.
Kluczowe zdanie: 'Model uczy się wspólnego języka klinicznego dla tekstu i sygnałów — bez etykiet mortality.'
[Zatrzymać animację przy scenie 'positive pairs' lub 'macierz podobieństw']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4 (Dane v1 + trening) | ok. 40 sek.
Dla v1 mamy już większą kohortę CCU/CVICU i poprawne in-hospital mortality. Trening przebiega na CPU (MacBook Pro) — to istotne ograniczenie: jedna epoka trwa ok. 1–4h, brak mixed precision (AMP). Po 6 epokach train loss spada stabilnie poniżej baseline ln(64)=4.159, val loss najniższy przy epoce 5 (3.818). Epoka 6 pokazuje lekki wzrost val — kandydat do early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5 (Similarity matrix) | ok. 55 sek.
To są PRAWDZIWE dane z treningu — τ=0.07, batch=8, baseline ln(8)=2.08.
Animacja (5.8s) pokazuje ewolucję macierzy cosinusowej text×signal przez epoki 0→4:
- Epoka 0 (przed treningiem): macierz jednorodna, brak kontrastu
- Z epoką na epokę: diagonal staje się coraz jaśniejsza (wyższe cos-sim dla positive pairs)
- Off-diagonal ciemnieje (model aktywnie odpycha negatywne pary)
Hasło do powiedzenia: 'diagonal = positive pairs — im jaśniej świeci, tym lepiej model rozróżnia pary.'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6 (UMAP) | ok. 55 sek.
To są PRAWDZIWE dane z treningu — 250 notatek ze zbioru val, Bio_ClinicalBERT + InfoNCE.
Animacja (10s) pokazuje ewolucję UMAP przez 9 epok:
- Czerwone punkty = pacjenci, którzy zmarli (mortality=1)
- Niebieskie = przeżyli (mortality=0)
- UMAP fit na ostatniej epoce, transform na wcześniejszych → 'migracja' punktów = jak embeddingi się uczą
Kluczowe zdanie: 'InfoNCE nie widział etykiet mortality — a mimo to przestrzeń zaczyna je rozróżniać. To sanity-check, że reprezentacje niosą kliniczny sens przed przekazaniem ich do GNN.'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Slajd 7 (Następne kroki) | ok. 40 sek.
Następny krok to przejście z embeddingów do dynamiki: budujemy graf pacjenta i uczymy Temporal GNN, gdzie czas między zdarzeniami jest wprost w wejściu jako edge_attr=Δt. Równolegle poprawiamy Fazę 1: chcemy więcej i 'mądrzejszych' negatywów oraz sensowniejszy pairing, żeby kontrast był silniejszy.
Kluczowe ograniczenie bieżące: trening biegnie na CPU (MacBook). Prezentowane wyniki to pierwsze 6 epok — model się uczy, ale potrzebuje GPU do pełnej zbieżności.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1097280"/>
          </a:xfrm>
          <a:prstGeom prst="rect">
            <a:avLst/>
          </a:prstGeom>
          <a:solidFill>
            <a:srgbClr val="0077A8">
              <a:alpha val="45000"/>
            </a:srgbClr>
          </a:solidFill>
          <a:ln w="12700">
            <a:solidFill>
              <a:srgbClr val="0077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 — WYNIKI WSTĘPNE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6858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Contrastive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Pre-training dla Kardiologii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2423160"/>
            <a:ext cx="283464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01752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Tekst kliniczny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423160"/>
            <a:ext cx="283464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319272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Sygnały (vitals)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283464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336792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Contrastive SSL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3108960"/>
            <a:ext cx="8686800" cy="1463040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in-hospital mortality — z pierwszych 24h pobytu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 tekstu (notatki) i sygnałów (vitals/laby) → uczymy się wspólnych reprezentacji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bezpośrednich etykiet śmiertelności — przez contrastive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w 2 fazach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3886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3886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  (gotowa ✓)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Pre-training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Two-Tower (BERT + CNN)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InfoNCE Loss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embeddings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(128-D, L2-norm)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9 749 notatek | 314k par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24528" y="2542032"/>
            <a:ext cx="822960" cy="0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5010912" y="2487168"/>
            <a:ext cx="109728" cy="1097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297680" y="23317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822960"/>
            <a:ext cx="3886200" cy="34747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5029200" y="822960"/>
            <a:ext cx="38862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074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 (następny krok)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38928" y="12801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GNN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pacjenta → P(mortality)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edge_attr = Δt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(odstęp czasowy między zdarzeniami)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Węzły: zdarzenia + notatki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Krawędzie: chronologiczne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node_embeddings.pt z Fazy 1 → zamrożone wejście do Fazy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 1 — Two-Tower + InfoNCE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530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animacja: intuicja mechanizmu contrastive learning  (36 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377440" cy="347472"/>
          </a:xfrm>
          <a:prstGeom prst="rect">
            <a:avLst/>
          </a:prstGeom>
          <a:solidFill>
            <a:srgbClr val="1620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656832" y="10972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Bio_ClinicalBERT + proj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548640"/>
            <a:ext cx="2377440" cy="347472"/>
          </a:xfrm>
          <a:prstGeom prst="rect">
            <a:avLst/>
          </a:prstGeom>
          <a:solidFill>
            <a:srgbClr val="162033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656832" y="5486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encoder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987552"/>
            <a:ext cx="2377440" cy="347472"/>
          </a:xfrm>
          <a:prstGeom prst="rect">
            <a:avLst/>
          </a:prstGeom>
          <a:solidFill>
            <a:srgbClr val="162033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656832" y="98755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 T=0.07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728" y="841248"/>
            <a:ext cx="8924544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" y="4754880"/>
            <a:ext cx="9015984" cy="32004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109728" y="4773168"/>
            <a:ext cx="8924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pair: </a:t>
            </a: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note_i ↔ signal_i   </a:t>
            </a: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negatives: </a:t>
            </a: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note_i ↔ signal_j (i≠j, in-batch)   </a:t>
            </a: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z_text, z_signal ∈ ℝ¹²⁸  L2-norm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Dane v1 i postęp treningu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01752" y="7955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10 775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52" y="12344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72968" y="777240"/>
            <a:ext cx="27432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46120" y="7955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9 749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12344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17336" y="777240"/>
            <a:ext cx="27432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190488" y="7955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314k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90488" y="12344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text×signal pairs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276634673"/>
              </p:ext>
            </p:extLst>
          </p:nvPr>
        </p:nvGraphicFramePr>
        <p:xfrm>
          <a:off x="228600" y="1828800"/>
          <a:ext cx="53035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5669280" y="1851660"/>
            <a:ext cx="324612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 dirty="0"/>
          </a:p>
        </p:txBody>
      </p:sp>
      <p:sp>
        <p:nvSpPr>
          <p:cNvPr id="15" name="Text 12"/>
          <p:cNvSpPr/>
          <p:nvPr/>
        </p:nvSpPr>
        <p:spPr>
          <a:xfrm>
            <a:off x="576072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Ograniczenie — </a:t>
            </a:r>
            <a:r>
              <a:rPr lang="pl-PL" sz="1200" b="1" dirty="0" err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r>
              <a:rPr lang="pl-PL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b="1" dirty="0" err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r>
              <a:rPr lang="pl-PL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b="1" dirty="0" err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3291840"/>
            <a:ext cx="324612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576072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Co widzimy w logu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60720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4.07 → 3.64 (↓ stale)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best: </a:t>
            </a:r>
            <a:r>
              <a:rPr lang="pl-PL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</a:t>
            </a: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epok</a:t>
            </a:r>
            <a:r>
              <a:rPr lang="pl-PL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</a:t>
            </a: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Epoka</a:t>
            </a:r>
            <a:r>
              <a:rPr lang="en-US" sz="11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1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val ↑ (early stop?)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28.9M / 108M trainable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(bottom 8/12 warstw zamrożone)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5486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widać po treningu — similarity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599" y="591094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prawdziwe dane  ·  τ=0.07  ·  batch=</a:t>
            </a:r>
            <a:r>
              <a:rPr lang="pl-PL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baseline ln(B)=</a:t>
            </a:r>
            <a:r>
              <a:rPr lang="pl-PL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19088" y="54864"/>
            <a:ext cx="2606040" cy="49834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6419088" y="54864"/>
            <a:ext cx="26060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73952" y="5486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widać?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38912"/>
            <a:ext cx="24505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positive pair
text_i ↔ signal_i
</a:t>
            </a:r>
            <a:r>
              <a:rPr lang="en-US" sz="1150" b="1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</a:t>
            </a: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negative
(i ≠ j, in-batch)
</a:t>
            </a:r>
            <a:r>
              <a:rPr lang="en-US" sz="115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Epoka 0:</a:t>
            </a: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brak kontrastu,
przekątna szara.
</a:t>
            </a:r>
            <a:r>
              <a:rPr lang="en-US" sz="1150" b="1" dirty="0" err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Epoka</a:t>
            </a:r>
            <a:r>
              <a:rPr lang="en-US" sz="115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5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15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diagonal
</a:t>
            </a: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'świeci'</a:t>
            </a: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model nauczył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się par klinicznych.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73952" y="3840480"/>
            <a:ext cx="2450592" cy="475488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528816" y="3858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rośnie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38587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cos_sim diagonal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73952" y="4407408"/>
            <a:ext cx="2450592" cy="475488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528816" y="44256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spada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71232" y="442569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</a:t>
            </a:r>
            <a:endParaRPr lang="en-US" sz="950" dirty="0"/>
          </a:p>
        </p:txBody>
      </p:sp>
      <p:pic>
        <p:nvPicPr>
          <p:cNvPr id="16" name="SimilarityEvolution">
            <a:hlinkClick r:id="" action="ppaction://media"/>
            <a:extLst>
              <a:ext uri="{FF2B5EF4-FFF2-40B4-BE49-F238E27FC236}">
                <a16:creationId xmlns:a16="http://schemas.microsoft.com/office/drawing/2014/main" id="{E726F051-C3DD-CBDD-4024-9DEB9EF2AD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599" y="1143000"/>
            <a:ext cx="6064849" cy="3409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5486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Wyniki treningu — UMAP embeddingów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Bio_ClinicalBERT + InfoNCE  ·  val=250 notatek  ·  kolor: mortality  ·  </a:t>
            </a:r>
            <a:r>
              <a:rPr lang="pl-PL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epok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19088" y="54864"/>
            <a:ext cx="2606040" cy="49834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6419088" y="54864"/>
            <a:ext cx="2606040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73952" y="5486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widzimy?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38912"/>
            <a:ext cx="24505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czerwony</a:t>
            </a: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zgon (mortality=1)
</a:t>
            </a: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niebieski</a:t>
            </a: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przeżył (0)
</a:t>
            </a:r>
            <a:r>
              <a:rPr lang="en-US" sz="110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Epoka 1→</a:t>
            </a:r>
            <a:r>
              <a:rPr lang="pl-PL" sz="110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100" b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punkty migrują
(UMAP fit na ostatniej
epoki, transform na
wcześniejszych)
</a:t>
            </a: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Klastry zaczynają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rozróżniać mortality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model nie widział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etykiet w trakcie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treningu!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73952" y="3767328"/>
            <a:ext cx="2450592" cy="126187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528816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ważne?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28816" y="4114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loss (InfoNCE) nie zna mortality. Mimo to przestrzeń ma strukturę. Sanity-check przed GNN.</a:t>
            </a:r>
            <a:endParaRPr lang="en-US" sz="1050" dirty="0"/>
          </a:p>
        </p:txBody>
      </p:sp>
      <p:pic>
        <p:nvPicPr>
          <p:cNvPr id="13" name="UmapEvolution">
            <a:hlinkClick r:id="" action="ppaction://media"/>
            <a:extLst>
              <a:ext uri="{FF2B5EF4-FFF2-40B4-BE49-F238E27FC236}">
                <a16:creationId xmlns:a16="http://schemas.microsoft.com/office/drawing/2014/main" id="{EE62AAE0-4FB4-B954-87C6-C398DB5F50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6758" y="1143000"/>
            <a:ext cx="5738723" cy="3226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Następne kroki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56032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— Temporal GNN  (must-have)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069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graph_builder.py → tgnn_model.py → train_gnn.py
</a:t>
            </a: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węzły: </a:t>
            </a: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zdarzenia + notatki (embeddingi z F1)
</a:t>
            </a: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krawędzie: </a:t>
            </a: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skierowane chronologicznie
</a:t>
            </a: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edge_attr = Δt
</a:t>
            </a: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P(mortality) z grafu pacjenta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9768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736592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Ulepszenia Fazy 1  (roadmap)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188720"/>
            <a:ext cx="4069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negatives</a:t>
            </a: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trudniejsze pary
dla silniejszego kontrastu
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Sensowniejszy pairing</a:t>
            </a: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— lepsze dopasowanie nota↔sygnał
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Skalowanie danych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więcej kohort poza CCU/CVICU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" y="3959352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005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1316</Words>
  <Application>Microsoft Office PowerPoint</Application>
  <PresentationFormat>Pokaz na ekranie (16:9)</PresentationFormat>
  <Paragraphs>89</Paragraphs>
  <Slides>7</Slides>
  <Notes>7</Notes>
  <HiddenSlides>0</HiddenSlides>
  <MMClips>3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GGSN — Multimodal Contrastive Pre-training for Cardiac Mortality</dc:title>
  <dc:subject>PptxGenJS Presentation</dc:subject>
  <dc:creator>PptxGenJS</dc:creator>
  <cp:lastModifiedBy>Jan Banasik</cp:lastModifiedBy>
  <cp:revision>2</cp:revision>
  <dcterms:created xsi:type="dcterms:W3CDTF">2026-04-29T13:56:48Z</dcterms:created>
  <dcterms:modified xsi:type="dcterms:W3CDTF">2026-04-29T16:03:40Z</dcterms:modified>
</cp:coreProperties>
</file>