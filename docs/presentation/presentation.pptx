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TO JEST MIMIC-IV?</a:t>
            </a:r>
          </a:p>
          <a:p>
            <a:r>
              <a:t>Publiczna baza danych Beth Israel Deaconess Medical Center (Boston). Zawiera dane</a:t>
            </a:r>
          </a:p>
          <a:p>
            <a:r>
              <a:t>EHR 94 429 unikalnych pacjentów. Dostep wymaga szkolenia z etyki przez PhysioNet.</a:t>
            </a:r>
          </a:p>
          <a:p>
            <a:r>
              <a:t>Wersja 3.1 — najnowsza, uzyta w projekcie.</a:t>
            </a:r>
          </a:p>
          <a:p/>
          <a:p>
            <a:r>
              <a:t>DLACZEGO PREDYKCJA SMIERTELNOSCI?</a:t>
            </a:r>
          </a:p>
          <a:p>
            <a:r>
              <a:t>Kliniczne uzasadnienie: wczesne rozpoznanie pacjentow wysokiego ryzyka pozwala</a:t>
            </a:r>
          </a:p>
          <a:p>
            <a:r>
              <a:t>na szybsze leczenie, priorytetyzacje zasobow OIOM, wlasciwy poziom opieki.</a:t>
            </a:r>
          </a:p>
          <a:p>
            <a:r>
              <a:t>AUROC 0.88 SOTA (literatura) pochodzi z modeli z pelnymi zasobami obliczeniowymi;</a:t>
            </a:r>
          </a:p>
          <a:p>
            <a:r>
              <a:t>nasz wynik 0.850 to realistyczny cel przy ograniczeniach jednego GPU laptopowego.</a:t>
            </a:r>
          </a:p>
          <a:p/>
          <a:p>
            <a:r>
              <a:t>CZYM SIE ROZNI OD KLASYCZNEJ KLASYFIKACJI?</a:t>
            </a:r>
          </a:p>
          <a:p>
            <a:r>
              <a:t>Dane sa sekwencyjne w czasie (zdarzenia), heterogeniczne (tekst + liczby + kody),</a:t>
            </a:r>
          </a:p>
          <a:p>
            <a:r>
              <a:t>i maj silny imbalans klas. To wymaga specjalizowanej architektury.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1:7 TO PROBLEM? NIE WYSTARCZY BCE?</a:t>
            </a:r>
          </a:p>
          <a:p>
            <a:r>
              <a:t>BCE (binary cross-entropy) traktuje wszystkie przyklady rowno. Przy 1:7</a:t>
            </a:r>
          </a:p>
          <a:p>
            <a:r>
              <a:t>model ktory zawsze mowi "przezyje" ma ~87% accuracy. Musimy uzyc:</a:t>
            </a:r>
          </a:p>
          <a:p>
            <a:r>
              <a:t>1. pos_weight w losie — skaluje gradient dla klasy pozytywnej (pos_weight=6.897)</a:t>
            </a:r>
          </a:p>
          <a:p>
            <a:r>
              <a:t>2. Focal Loss — dodaje czynnik (1-p)^gamma skupiajacy gradient na trudnych</a:t>
            </a:r>
          </a:p>
          <a:p>
            <a:r>
              <a:t>   przykladach, niezaleznie od klasy</a:t>
            </a:r>
          </a:p>
          <a:p/>
          <a:p>
            <a:r>
              <a:t>DLACZEGO AUROC A NIE ACCURACY?</a:t>
            </a:r>
          </a:p>
          <a:p>
            <a:r>
              <a:t>AUROC mierzy zdolnosc rankingowania: czy model wyze rankuje przypadki smiertelne</a:t>
            </a:r>
          </a:p>
          <a:p>
            <a:r>
              <a:t>powyzej ocalonych, niezaleznie od progu decyzyjnego. Jest odporna na imbalans.</a:t>
            </a:r>
          </a:p>
          <a:p>
            <a:r>
              <a:t>AUPRC (precision-recall) jest jeszcze lepsza przy silnym imbalansie —</a:t>
            </a:r>
          </a:p>
          <a:p>
            <a:r>
              <a:t>AUROC moze byc mylacy jesli wiele True Negatives zawyza metryki.</a:t>
            </a:r>
          </a:p>
          <a:p/>
          <a:p>
            <a:r>
              <a:t>CO TO TEMPORAL LEAKAGE?</a:t>
            </a:r>
          </a:p>
          <a:p>
            <a:r>
              <a:t>Sytuacja gdy model uzywa informacji ktora nie bylyby dostepna w czasie predykcji.</a:t>
            </a:r>
          </a:p>
          <a:p>
            <a:r>
              <a:t>W naszym przypadku: wzielismy OSTATNIE N sygnalow z calego pobytu.</a:t>
            </a:r>
          </a:p>
          <a:p>
            <a:r>
              <a:t>Pacjent ktory umiera ma krytyczne vitals bezposrednio przed smiercia —</a:t>
            </a:r>
          </a:p>
          <a:p>
            <a:r>
              <a:t>model widzial "zapis umierania" zamiast prognozowac na podstawie wczesnych danych.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BIO_CLINICALBERT A NIE ZWYKLY BERT?</a:t>
            </a:r>
          </a:p>
          <a:p>
            <a:r>
              <a:t>Bio_ClinicalBERT (emilyalsentzer) byl dotrenowany na notatkach z MIMIC-III</a:t>
            </a:r>
          </a:p>
          <a:p>
            <a:r>
              <a:t>i literaturze biomedycznej PubMed. Kluczowy: zna skroty kliniczne (PRN, QID,</a:t>
            </a:r>
          </a:p>
          <a:p>
            <a:r>
              <a:t>SBP, MAP), terminologie medyczna, styl notatek pielegniarskich.</a:t>
            </a:r>
          </a:p>
          <a:p>
            <a:r>
              <a:t>Ogolny BERT traktuje "WBC 12.5" jak zwykly ciag znakow; Bio_ClinicalBERT</a:t>
            </a:r>
          </a:p>
          <a:p>
            <a:r>
              <a:t>rozumie ze to jest wynik morfologii.</a:t>
            </a:r>
          </a:p>
          <a:p/>
          <a:p>
            <a:r>
              <a:t>DLACZEGO AKURAT 14 TYPOW SYGNALOW?</a:t>
            </a:r>
          </a:p>
          <a:p>
            <a:r>
              <a:t>Wybrano 14 najczesciej wystepujacych i klinicznie istotnych sygnalow w MIMIC-IV:</a:t>
            </a:r>
          </a:p>
          <a:p>
            <a:r>
              <a:t>HR (tetno), SpO2 (saturacja), MAP (cisnienie), RR (oddech), GCS (swiadomosc),</a:t>
            </a:r>
          </a:p>
          <a:p>
            <a:r>
              <a:t>temperatura, i wybrane wyniki laboratoryjne. Mozna by wziac wiecej, ale 14</a:t>
            </a:r>
          </a:p>
          <a:p>
            <a:r>
              <a:t>zapewnia pokrycie &gt;99% pobytow przy zachowaniu rozsdnym rozmiarze modelu.</a:t>
            </a:r>
          </a:p>
          <a:p/>
          <a:p>
            <a:r>
              <a:t>DLACZEGO SUBJECT-DISJOINT SPLIT A NIE LOSOWY?</a:t>
            </a:r>
          </a:p>
          <a:p>
            <a:r>
              <a:t>Pacjent moze miec wiele pobytow na OIOM-ie. Losowy podzial moze dac ten sam</a:t>
            </a:r>
          </a:p>
          <a:p>
            <a:r>
              <a:t>podmiot w train i val — model uczy sie cech specyficznych dla konkretnego</a:t>
            </a:r>
          </a:p>
          <a:p>
            <a:r>
              <a:t>pacjenta (wiek, historia choroby), co sztucznie zawyza wyniki. Subject-disjoint</a:t>
            </a:r>
          </a:p>
          <a:p>
            <a:r>
              <a:t>gwarantuje ze evalujemy generalizacje do nowych pacjentow, nie nowych pobytow.</a:t>
            </a:r>
          </a:p>
          <a:p/>
          <a:p>
            <a:r>
              <a:t>CO TO CHARLSON COMORBIDITY INDEX?</a:t>
            </a:r>
          </a:p>
          <a:p>
            <a:r>
              <a:t>Skala z 1987 roku (Charlson et al.), zmodyfikowana przez Quan et al. 2005 — 17</a:t>
            </a:r>
          </a:p>
          <a:p>
            <a:r>
              <a:t>schorzeń przewleklych wazona wedlug ryzyka smiertelnosci (zawál, udar, nowotwory</a:t>
            </a:r>
          </a:p>
          <a:p>
            <a:r>
              <a:t>przerzutowe...). Uzywamy wersji 19-kategoryjnej jako 0/1 wektora binarnego.</a:t>
            </a:r>
          </a:p>
          <a:p>
            <a:r>
              <a:t>Wazne: kody ICD sa przypisywane PRZY WYPISIE, ale kategorie Charlson to</a:t>
            </a:r>
          </a:p>
          <a:p>
            <a:r>
              <a:t>schorzenia istniejace przed hospitalizacja — brak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DWIE FAZY A NIE END-TO-END OD RAZU?</a:t>
            </a:r>
          </a:p>
          <a:p>
            <a:r>
              <a:t>E2E fine-tuning przetestowalismy (slajd o wynikach). Wynik: AUROC 0.790 &lt; 0.829</a:t>
            </a:r>
          </a:p>
          <a:p>
            <a:r>
              <a:t>baseline — catastrophic forgetting. BERT ma 110M parametrow, GNN ~65K.</a:t>
            </a:r>
          </a:p>
          <a:p>
            <a:r>
              <a:t>Przy wspolnym treningu gradient z klasyfikatora "niszczy" reprezentacje BERT</a:t>
            </a:r>
          </a:p>
          <a:p>
            <a:r>
              <a:t>wyuczone na 102K notatkach. Phase 1 daje stabilne, bogate reprezentacje</a:t>
            </a:r>
          </a:p>
          <a:p>
            <a:r>
              <a:t>ktore Phase 2 moze efektywnie wykorzystac bez ich niszczenia.</a:t>
            </a:r>
          </a:p>
          <a:p/>
          <a:p>
            <a:r>
              <a:t>CZYM ROZNI SIE OD FINE-TUNINGU BERT BEZPOSREDNIO?</a:t>
            </a:r>
          </a:p>
          <a:p>
            <a:r>
              <a:t>Tradycyjny fine-tuning BERT na klasyfikacji: pobieramy [CLS] token i uczymy</a:t>
            </a:r>
          </a:p>
          <a:p>
            <a:r>
              <a:t>klasyfikatora. Nie korzysta z sygnalow fizjologicznych ani kolejnosci zdarzen.</a:t>
            </a:r>
          </a:p>
          <a:p>
            <a:r>
              <a:t>Nasze podejscie: Phase 1 tworzy WSPOLNA przestrzen tekst+sygnal, potem GNN</a:t>
            </a:r>
          </a:p>
          <a:p>
            <a:r>
              <a:t>modeluje RELACJE TEMPORALNE miedzy zdarzeniami. To architektonicznie bogatsze.</a:t>
            </a:r>
          </a:p>
          <a:p/>
          <a:p>
            <a:r>
              <a:t>JAKI JEST WKLAD KAZDEJ FAZY?</a:t>
            </a:r>
          </a:p>
          <a:p>
            <a:r>
              <a:t>Phase 1: dostarcza reprezentacje notatek (bez niej: AUROC 0.784, delta -0.045)</a:t>
            </a:r>
          </a:p>
          <a:p>
            <a:r>
              <a:t>Phase 2: modeluje kontekst temporalny i relacje miedzy zdarzeniami w czasie</a:t>
            </a:r>
          </a:p>
          <a:p>
            <a:r>
              <a:t>Razem: AUROC 0.850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TO JEST INFONCE / NT-XENT?</a:t>
            </a:r>
          </a:p>
          <a:p>
            <a:r>
              <a:t>InfoNCE (Noise Contrastive Estimation) minimalizuje temperatura-skalowane</a:t>
            </a:r>
          </a:p>
          <a:p>
            <a:r>
              <a:t>cross-entropy na macierzy podobienstwa: L = CE(sim/tau, labels_diagonal).</a:t>
            </a:r>
          </a:p>
          <a:p>
            <a:r>
              <a:t>Kazda para (notatka_i, sygnal_i) z tego samego pobytu jest para pozytywna,</a:t>
            </a:r>
          </a:p>
          <a:p>
            <a:r>
              <a:t>wszystkie inne pary w batchu sa negatywne. Pozwala na O(B^2) negatywnych par</a:t>
            </a:r>
          </a:p>
          <a:p>
            <a:r>
              <a:t>z B przykladow — efektywniejsze niz triplet loss.</a:t>
            </a:r>
          </a:p>
          <a:p/>
          <a:p>
            <a:r>
              <a:t>DLACZEGO TEMPERATURA TAU=0.07?</a:t>
            </a:r>
          </a:p>
          <a:p>
            <a:r>
              <a:t>Temperatura kontroluje "ostrosc" dystrybucji podobienstwa:</a:t>
            </a:r>
          </a:p>
          <a:p>
            <a:r>
              <a:t>- Male tau (0.07): ostre piki, model musi byc bardzo pewny par pozytywnych</a:t>
            </a:r>
          </a:p>
          <a:p>
            <a:r>
              <a:t>- Duze tau (&gt;0.5): rozmyta dystrybucja, slabszy sygnal treningowy</a:t>
            </a:r>
          </a:p>
          <a:p>
            <a:r>
              <a:t>Tau=0.07 pochodzi z SimCLR (Chen et al. 2020) i CLIP (Radford et al. 2021) —</a:t>
            </a:r>
          </a:p>
          <a:p>
            <a:r>
              <a:t>empirycznie sprawdzone na multimodalnym uczeniu kontrastywnym.</a:t>
            </a:r>
          </a:p>
          <a:p/>
          <a:p>
            <a:r>
              <a:t>DLACZEGO L2-NORMALIZACJA WEKTOROW?</a:t>
            </a:r>
          </a:p>
          <a:p>
            <a:r>
              <a:t>L2-normalizacja projkuje wektory na sferze jednostkowej. Wtedy:</a:t>
            </a:r>
          </a:p>
          <a:p>
            <a:r>
              <a:t>dot(z1, z2) = cosine_similarity(z1, z2) ∈ [-1, 1]</a:t>
            </a:r>
          </a:p>
          <a:p>
            <a:r>
              <a:t>Zapobiega "collapse" (wszystkie wektory blisko zera), stabilizuje trening,</a:t>
            </a:r>
          </a:p>
          <a:p>
            <a:r>
              <a:t>ulatwia interpretacje podobienstwa jako kosinusowe.</a:t>
            </a:r>
          </a:p>
          <a:p/>
          <a:p>
            <a:r>
              <a:t>CO TO HARD NEGATIVE MINING?</a:t>
            </a:r>
          </a:p>
          <a:p>
            <a:r>
              <a:t>W batchu szukamy par ktore sa trudne — tj. notatki i sygnaly z ROZNYCH pobytow</a:t>
            </a:r>
          </a:p>
          <a:p>
            <a:r>
              <a:t>ale o wysokim podobienst. Takie "trudne negatywne" sa bardziej informacyjne</a:t>
            </a:r>
          </a:p>
          <a:p>
            <a:r>
              <a:t>niz losowe (np. notatka z kardiologii vs sygnaly z neurologii — latwo rozroznic;</a:t>
            </a:r>
          </a:p>
          <a:p>
            <a:r>
              <a:t>dwie notatki z podobnymi vitals z roznych pobytow — trudno). Hard negatywne</a:t>
            </a:r>
          </a:p>
          <a:p>
            <a:r>
              <a:t>przyspieszaja uczenie sie wyraZnych granic w przestrzeni embeddingów.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GRAF A NIE TRANSFORMER / LSTM?</a:t>
            </a:r>
          </a:p>
          <a:p>
            <a:r>
              <a:t>Transformer (attention) zaklada stala dlugosc sekwencji i rowno-rozmieszczone</a:t>
            </a:r>
          </a:p>
          <a:p>
            <a:r>
              <a:t>punkty czasowe. Nasze zdarzenia sa nieregularnie rozmieszczone w czasie</a:t>
            </a:r>
          </a:p>
          <a:p>
            <a:r>
              <a:t>(notatki co kilka godzin, sygnaly co minuty lub godziny).</a:t>
            </a:r>
          </a:p>
          <a:p>
            <a:r>
              <a:t>Graf pozwala naturalnie reprezento wac nieregularne struktury czasowe.</a:t>
            </a:r>
          </a:p>
          <a:p>
            <a:r>
              <a:t>LSTM przetwarza sekwencje liniowo — nie uwzglednia ze zdarzenia moga byc</a:t>
            </a:r>
          </a:p>
          <a:p>
            <a:r>
              <a:t>z roznych typow (notatka vs sygnal) i w roznych momentach.</a:t>
            </a:r>
          </a:p>
          <a:p/>
          <a:p>
            <a:r>
              <a:t>DLACZEGO KRAWEDZIE TYLKO DO PRZODU W CZASIE?</a:t>
            </a:r>
          </a:p>
          <a:p>
            <a:r>
              <a:t>Krawedzie skierowane zapewniaja kauzalnosc: wczesniejsze zdarzenia moga</a:t>
            </a:r>
          </a:p>
          <a:p>
            <a:r>
              <a:t>wplywac na interpretacje pozniejszych, ale nie odwrotnie. Cofanie krawedzi</a:t>
            </a:r>
          </a:p>
          <a:p>
            <a:r>
              <a:t>byloby rownoważne z data leakage — model "widzialby przyszlosc" przez</a:t>
            </a:r>
          </a:p>
          <a:p>
            <a:r>
              <a:t>propagacje wiadomosci wstecz.</a:t>
            </a:r>
          </a:p>
          <a:p/>
          <a:p>
            <a:r>
              <a:t>DLACZEGO ICD NODE W T=-1H?</a:t>
            </a:r>
          </a:p>
          <a:p>
            <a:r>
              <a:t>ICD Charlson reprezentuje PRZEWLEKLE schorzenia istniejace PRZED hospitalizacja.</a:t>
            </a:r>
          </a:p>
          <a:p>
            <a:r>
              <a:t>Umieszczamy go przed wszystkimi zdarzeniami (t=-1h) jako "prior knowledge" —</a:t>
            </a:r>
          </a:p>
          <a:p>
            <a:r>
              <a:t>wiedza a priori o stanie zdrowia pacjenta. Krawedz ICD→kazdy_node oznacza</a:t>
            </a:r>
          </a:p>
          <a:p>
            <a:r>
              <a:t>ze historia chorobowa warunkuje interpretacje kazdego zdarzenia.</a:t>
            </a:r>
          </a:p>
          <a:p/>
          <a:p>
            <a:r>
              <a:t>DLACZEGO DEMOGRAFIKA JAKO GRAPH-LEVEL A NIE NODE?</a:t>
            </a:r>
          </a:p>
          <a:p>
            <a:r>
              <a:t>Wiek, plec, tryb przyjecia to cechy STATYCZNE dla calego pobytu — nie zdarzenia</a:t>
            </a:r>
          </a:p>
          <a:p>
            <a:r>
              <a:t>w czasie. Dodanie ich jako osobnego nodu w grafie temporalnym byloby niespojne</a:t>
            </a:r>
          </a:p>
          <a:p>
            <a:r>
              <a:t>architektonicznie. Jako graph-level feature (konkatenacja po poolingu) sa</a:t>
            </a:r>
          </a:p>
          <a:p>
            <a:r>
              <a:t>dostepne klasyfikatorowi bez wplywania na propagacje wiadomosci w grafie.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GINECONV A NIE GAT (Graph Attention Network)?</a:t>
            </a:r>
          </a:p>
          <a:p>
            <a:r>
              <a:t>GAT (Velickovic 2018) uczy sie wag uwagi dla krawedzi na podstawie cech NODOW.</a:t>
            </a:r>
          </a:p>
          <a:p>
            <a:r>
              <a:t>Problem: nie uwzglednia natywnie cech krawedzi (u nas: Δt).</a:t>
            </a:r>
          </a:p>
          <a:p>
            <a:r>
              <a:t>GINEConv (Hu et al. 2019) rozszerza GIN o cechy krawedzi: dodaje edge_attr do</a:t>
            </a:r>
          </a:p>
          <a:p>
            <a:r>
              <a:t>cechy nodu przed agregacja. Poniewaz Δt (roznica czasu) jest kluczowa semantycznie</a:t>
            </a:r>
          </a:p>
          <a:p>
            <a:r>
              <a:t>— odleglosc 30 minut vs 12 godzin miedzy notatka a sygnalami ma inne znaczenie —</a:t>
            </a:r>
          </a:p>
          <a:p>
            <a:r>
              <a:t>potrzebujemy modelu ktory te rozne moze explicite przetworzyc.</a:t>
            </a:r>
          </a:p>
          <a:p/>
          <a:p>
            <a:r>
              <a:t>DLACZEGO GIN A NIE GCN?</a:t>
            </a:r>
          </a:p>
          <a:p>
            <a:r>
              <a:t>GCN (Kipf &amp; Welling 2017) uzywca normalizacji stopni wezlow do agregacji.</a:t>
            </a:r>
          </a:p>
          <a:p>
            <a:r>
              <a:t>Jest mniej ekspresywny — nie rozroznia grafow ktore GIN rozroznia.</a:t>
            </a:r>
          </a:p>
          <a:p>
            <a:r>
              <a:t>GIN (Xu et al. 2019) jest tak ekspresywny jak test Weisfeiler-Leman (WL-test) —</a:t>
            </a:r>
          </a:p>
          <a:p>
            <a:r>
              <a:t>teoretyczne maksimum dla message-passing GNN. MLP wewnatrz konwolucji zamiast</a:t>
            </a:r>
          </a:p>
          <a:p>
            <a:r>
              <a:t>prostej sumy daje dodatkowa ekspresywnosc.</a:t>
            </a:r>
          </a:p>
          <a:p/>
          <a:p>
            <a:r>
              <a:t>DLACZEGO 3 WARSTWY A NIE WIECEJ?</a:t>
            </a:r>
          </a:p>
          <a:p>
            <a:r>
              <a:t>Ablacja pokazala: 2 warstwy → AUROC 0.835, 3 warstwy → 0.829 (baseline), 4 warstwy → 0.822.</a:t>
            </a:r>
          </a:p>
          <a:p>
            <a:r>
              <a:t>Z demografika: demo+4layers → 0.836 (gorsze niz demo+3layers → 0.844).</a:t>
            </a:r>
          </a:p>
          <a:p>
            <a:r>
              <a:t>Wiecej warstw = wiekszy receptive field = bardziej globalna agregacja = over-smoothing.</a:t>
            </a:r>
          </a:p>
          <a:p>
            <a:r>
              <a:t>W grafach temporalnych zbyt globalna perspektywa zaciera lokalne wzorce kliniczne</a:t>
            </a:r>
          </a:p>
          <a:p>
            <a:r>
              <a:t>(co dzialosi sie w oknie ±2h jest wazniejsze niz calosciowa srednia pobytu).</a:t>
            </a:r>
          </a:p>
          <a:p/>
          <a:p>
            <a:r>
              <a:t>CO TO ATTENTION POOLING I DLACZEGO LEPSZY OD MEAN?</a:t>
            </a:r>
          </a:p>
          <a:p>
            <a:r>
              <a:t>Mean pooling bierze prosta srednich cechy wszystkich nodow — traktuje pierwsza</a:t>
            </a:r>
          </a:p>
          <a:p>
            <a:r>
              <a:t>godzine pobytu tak samo jak godzine przed kryzysu.</a:t>
            </a:r>
          </a:p>
          <a:p>
            <a:r>
              <a:t>Attention pooling (AttentionalAggregation) uczy sie wspolczynnikow bramkujacych:</a:t>
            </a:r>
          </a:p>
          <a:p>
            <a:r>
              <a:t>alpha_v = softmax(MLP_gate(h_v)) → g = Σ alpha_v * h_v</a:t>
            </a:r>
          </a:p>
          <a:p>
            <a:r>
              <a:t>Model moze nauczyc sie skupiac na klinicznie waznych momentach (np. deterioracja</a:t>
            </a:r>
          </a:p>
          <a:p>
            <a:r>
              <a:t>stanu). Wynik: +0.015 AUROC vs mean pooling (0.844 vs 0.829).</a:t>
            </a:r>
          </a:p>
          <a:p/>
          <a:p>
            <a:r>
              <a:t>CO TO FOCAL LOSS I KIEDY LEPSZY OD WAZOWANEGO BCE?</a:t>
            </a:r>
          </a:p>
          <a:p>
            <a:r>
              <a:t>BCE z pos_weight skaluje loss dla klasy pozytywnej stale (wspolczynnik 6.9).</a:t>
            </a:r>
          </a:p>
          <a:p>
            <a:r>
              <a:t>Focal Loss: FL(p_t) = -alpha_t * (1-p_t)^gamma * log(p_t)</a:t>
            </a:r>
          </a:p>
          <a:p>
            <a:r>
              <a:t>Czynnik (1-p_t)^gamma dynamicznie redukuje loss dla latwo sklasyfikowanych</a:t>
            </a:r>
          </a:p>
          <a:p>
            <a:r>
              <a:t>przykladow (p_t duze) i skupia gradient na trudnych (p_t male).</a:t>
            </a:r>
          </a:p>
          <a:p>
            <a:r>
              <a:t>Gamma=2.0 jest standardowym wyborem z oryginalnego paperu RetinaNet (Lin 2017).</a:t>
            </a:r>
          </a:p>
          <a:p>
            <a:r>
              <a:t>Efekt: +0.002 AUROC, ale znaczaca poprawa sens@95spec (0.388 vs 0.326 baseline).</a:t>
            </a:r>
          </a:p>
          <a:p>
            <a:r>
              <a:t>Klinicznie wazne: wyzszy recall przy danej specyficznosci.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WYKRYTO LEAKAGE?</a:t>
            </a:r>
          </a:p>
          <a:p>
            <a:r>
              <a:t>AUROC 0.931 jest podejrzanie wysoki — SOTA na tym samym zadaniu i zbiorze danych</a:t>
            </a:r>
          </a:p>
          <a:p>
            <a:r>
              <a:t>to 0.88, a nasz poprzedni najlepszy wynik to 0.850. Kiedy wynik modelu bije</a:t>
            </a:r>
          </a:p>
          <a:p>
            <a:r>
              <a:t>SOTA o 4%, nalezy sprawdzic preprocessing, nie swietowac.</a:t>
            </a:r>
          </a:p>
          <a:p>
            <a:r>
              <a:t>Analizujac kod gnn_dataset.py znalezlismy: sig_rows[-max_signals:]</a:t>
            </a:r>
          </a:p>
          <a:p>
            <a:r>
              <a:t>zamiast sig_rows[:max_signals].</a:t>
            </a:r>
          </a:p>
          <a:p/>
          <a:p>
            <a:r>
              <a:t>DLACZEGO TO LEAKAGE?</a:t>
            </a:r>
          </a:p>
          <a:p>
            <a:r>
              <a:t>Pacjent ktory umiera ma terminalne vitals (ekstremalne HR, BP, SpO2) bezposrednio</a:t>
            </a:r>
          </a:p>
          <a:p>
            <a:r>
              <a:t>przed smiercia. Uzywajac OSTATNICH N sygnalow z calego pobytu model "widzial"</a:t>
            </a:r>
          </a:p>
          <a:p>
            <a:r>
              <a:t>te sygnaly terminalne — de facto wiedzial ze pacjent zaraz umrze, zanim</a:t>
            </a:r>
          </a:p>
          <a:p>
            <a:r>
              <a:t>zostal "zapytany" o predykcje. To nie jest predykcja, to opis.</a:t>
            </a:r>
          </a:p>
          <a:p/>
          <a:p>
            <a:r>
              <a:t>DLACZEGO PIERWSZE N SYGNALOW?</a:t>
            </a:r>
          </a:p>
          <a:p>
            <a:r>
              <a:t>Klinicznie sensowna predykcja: czy pacjent przyjety na OIOM umrze, na podstawie</a:t>
            </a:r>
          </a:p>
          <a:p>
            <a:r>
              <a:t>danych z WCZESNEJ FAZY pobytu (pierwsze godziny / pierwsza doba)?</a:t>
            </a:r>
          </a:p>
          <a:p>
            <a:r>
              <a:t>To odpowiada prawdziwemu scenariuszowi klinicznemu: lekarz chce wiedziec</a:t>
            </a:r>
          </a:p>
          <a:p>
            <a:r>
              <a:t>o ryzyku wcze snie, nie wtedy gdy pacjent juz umiera.</a:t>
            </a:r>
          </a:p>
          <a:p/>
          <a:p>
            <a:r>
              <a:t>CZY INNE DANE TLEZ MOGLY MIEC LEAKAGE?</a:t>
            </a:r>
          </a:p>
          <a:p>
            <a:r>
              <a:t>Notatki kliniczne: uzywamy notatek z calego pobytu, ale sa one PRZYCZYNOWO</a:t>
            </a:r>
          </a:p>
          <a:p>
            <a:r>
              <a:t>uzasadnione — notatka z godziny 6 pobytu NIE opisuje tego co wydarzy sie w</a:t>
            </a:r>
          </a:p>
          <a:p>
            <a:r>
              <a:t>godzinie 48. Sygnaly all-stay po naprawieniu: pierwsze 50 = brak leakage.</a:t>
            </a:r>
          </a:p>
          <a:p>
            <a:r>
              <a:t>ICD Charlson: kody ICD sa przypisywane przy wypisie, ale dotycza PRZEWLEKLYCH</a:t>
            </a:r>
          </a:p>
          <a:p>
            <a:r>
              <a:t>schorzen istniejacych przed hospitalizacja — Charlson index jest wlasnie</a:t>
            </a:r>
          </a:p>
          <a:p>
            <a:r>
              <a:t>do tego zaprojektowany.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CZYTAC TEN WYKRES?</a:t>
            </a:r>
          </a:p>
          <a:p>
            <a:r>
              <a:t>Przerywana fioletowa linia = baseline (AUROC 0.829, mean pooling bez demo i focal).</a:t>
            </a:r>
          </a:p>
          <a:p>
            <a:r>
              <a:t>Przerywana czerwona linia = SOTA 0.880 z literatury.</a:t>
            </a:r>
          </a:p>
          <a:p>
            <a:r>
              <a:t>Kolory pasow: czerwony = ablacje (gorsze od baseline), indigo = baseline,</a:t>
            </a:r>
          </a:p>
          <a:p>
            <a:r>
              <a:t>zielony/cyan = warianty lepsze od baseline.</a:t>
            </a:r>
          </a:p>
          <a:p/>
          <a:p>
            <a:r>
              <a:t>CZEMU E2E (0.790) JEST GORSZY OD BASELINE (0.829)?</a:t>
            </a:r>
          </a:p>
          <a:p>
            <a:r>
              <a:t>Catastrophic forgetting: BERT (110M param) jest trenowany z LR ~5e-7, GNN z ~1e-3.</a:t>
            </a:r>
          </a:p>
          <a:p>
            <a:r>
              <a:t>Roznica 200x w LR powinna byc wystarczajaca. Ale gradient z malego klasyfikatora</a:t>
            </a:r>
          </a:p>
          <a:p>
            <a:r>
              <a:t>(65K param) przez duzy BERT (110M param) zaburza reprezentacje wyuczone w Phase 1</a:t>
            </a:r>
          </a:p>
          <a:p>
            <a:r>
              <a:t>nawet przy tak niskim LR. Zamrozenie 8 z 12 warstw czesciowo pomaga, ale nie</a:t>
            </a:r>
          </a:p>
          <a:p>
            <a:r>
              <a:t>eliminuje problemu. Na 8GB VRAM bez gradient checkpointing pelne E2E jest</a:t>
            </a:r>
          </a:p>
          <a:p>
            <a:r>
              <a:t>rowniez problematyczne pamiecia.</a:t>
            </a:r>
          </a:p>
          <a:p/>
          <a:p>
            <a:r>
              <a:t>CZEMU SIGNAL_ONLY (0.784) TAK WIELE TRACI?</a:t>
            </a:r>
          </a:p>
          <a:p>
            <a:r>
              <a:t>Notatki kliniczne zawieraja bogate, nieskwantyfikowane informacje kliniczne —</a:t>
            </a:r>
          </a:p>
          <a:p>
            <a:r>
              <a:t>oceny stanu ogolnego, plany leczenia, zmiany w zachowaniu pacjenta.</a:t>
            </a:r>
          </a:p>
          <a:p>
            <a:r>
              <a:t>Sygnaly fizjologiczne sa dokladne liczbowo, ale ograniczone do mierzalnych parametrow.</a:t>
            </a:r>
          </a:p>
          <a:p>
            <a:r>
              <a:t>Polaczenie obu: notatki daja kontekst interpretacyjny dla sygnalow.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AUPRC WAZNIEJSZA OD AUROC PRZY IMBALANSIE?</a:t>
            </a:r>
          </a:p>
          <a:p>
            <a:r>
              <a:t>AUROC mierzy: P(score(positive) &gt; score(negative)) dla losowej pary.</a:t>
            </a:r>
          </a:p>
          <a:p>
            <a:r>
              <a:t>Przy 1:7 imbalansie: model moze miec AUROC 0.85 z wieloma False Negatives bo</a:t>
            </a:r>
          </a:p>
          <a:p>
            <a:r>
              <a:t>jest bardzo wiele True Negatives ktore zawyza metryki ROC.</a:t>
            </a:r>
          </a:p>
          <a:p>
            <a:r>
              <a:t>AUPRC skupia sie na wydajnosci dla klasy pozytywnej: precision@recall_k.</a:t>
            </a:r>
          </a:p>
          <a:p>
            <a:r>
              <a:t>Random baseline AUPRC = prevalencja klasy = 0.127.</a:t>
            </a:r>
          </a:p>
          <a:p>
            <a:r>
              <a:t>Random baseline AUROC = 0.5 zawsze — tak samo dla zbilansowanych i niezbilansowanych.</a:t>
            </a:r>
          </a:p>
          <a:p/>
          <a:p>
            <a:r>
              <a:t>CZY NASZ AUROC 0.850 JEST WIARYGODNY?</a:t>
            </a:r>
          </a:p>
          <a:p>
            <a:r>
              <a:t>Tak — mamy row niez obu metryk z podobna hierarchia eksperymentow.</a:t>
            </a:r>
          </a:p>
          <a:p>
            <a:r>
              <a:t>Best model: AUROC 0.850, AUPRC 0.465. Relacja 0.850/0.465 vs random 0.5/0.127</a:t>
            </a:r>
          </a:p>
          <a:p>
            <a:r>
              <a:t>jest spjna: model 3.6x powyzej losowego w precision-recall.</a:t>
            </a:r>
          </a:p>
          <a:p>
            <a:r>
              <a:t>Gdyby AUROC byl zawyzona przez TN (False Negative problem), widzielibysmy</a:t>
            </a:r>
          </a:p>
          <a:p>
            <a:r>
              <a:t>niska AUPRC — a mamy 0.465 czyli wyraznie powyzej 0.127.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DLACZEGO ICD NODE NIE POMAGA?</a:t>
            </a:r>
          </a:p>
          <a:p>
            <a:r>
              <a:t>56.4% pobytow ma zerowy wektor Charlson (brak zapisanych chorob przewleklych).</a:t>
            </a:r>
          </a:p>
          <a:p>
            <a:r>
              <a:t>Dla tych pobytow ICD node to wektor samych zer — nieinformatywny.</a:t>
            </a:r>
          </a:p>
          <a:p>
            <a:r>
              <a:t>Pozostale 43.6% z niezerowym Charlsonem: 19-wymiarowy rzadki wektor binarny</a:t>
            </a:r>
          </a:p>
          <a:p>
            <a:r>
              <a:t>jest za malo informatywny dla 65K-parametrowego modelu przy imbalansie 1:7.</a:t>
            </a:r>
          </a:p>
          <a:p>
            <a:r>
              <a:t>Jesli mielibysmy wiecej parametrow lub gestszy wektor kodowania ICD, byc moze</a:t>
            </a:r>
          </a:p>
          <a:p>
            <a:r>
              <a:t>by pomoglo. Alternatywnie: uzyc ICD jako graph-level feature (jak demografike)</a:t>
            </a:r>
          </a:p>
          <a:p>
            <a:r>
              <a:t>zamiast osobnego nodu — to jest propozycja w future work.</a:t>
            </a:r>
          </a:p>
          <a:p/>
          <a:p>
            <a:r>
              <a:t>DLACZEGO ALL-STAY SIGNALS (0.820) GORSZE OD BASELINE (0.829)?</a:t>
            </a:r>
          </a:p>
          <a:p>
            <a:r>
              <a:t>Baseline uzywa sygnalow w oknie ±2h od kazdej notatki — to okno jest juz</a:t>
            </a:r>
          </a:p>
          <a:p>
            <a:r>
              <a:t>wybrane przez Phase 1 jako klinicznie relevantne. Wziecie pierwszych 50</a:t>
            </a:r>
          </a:p>
          <a:p>
            <a:r>
              <a:t>sygnalow z calego pobytu (medianicznie 315 sygnalow, max 30K) przy cap=50</a:t>
            </a:r>
          </a:p>
          <a:p>
            <a:r>
              <a:t>daje fragmentaryczne pokrycie calego pobytu. Okno ±2h jest bogato pokryte</a:t>
            </a:r>
          </a:p>
          <a:p>
            <a:r>
              <a:t>przez Phase 1; random sample całego pobytu jest zbyt rzadki.</a:t>
            </a:r>
          </a:p>
          <a:p>
            <a:r>
              <a:t>Potencjalne rozwiazanie: wiecej sygnałow (cap=200+), ale wymaga wiecej RAM.</a:t>
            </a:r>
          </a:p>
          <a:p/>
          <a:p>
            <a:r>
              <a:t>DLACZEGO FOCAL LOSS BARDZIEJ POMAGA NA SENS@95SPEC NIZ AUROC?</a:t>
            </a:r>
          </a:p>
          <a:p>
            <a:r>
              <a:t>Focal Loss skupia gradient na trudnych przykladach — czyli pacjentach</a:t>
            </a:r>
          </a:p>
          <a:p>
            <a:r>
              <a:t>trudno klasyfikowalnych (ci co sa blisko granicy decyzyjnej). Przy wysokiej</a:t>
            </a:r>
          </a:p>
          <a:p>
            <a:r>
              <a:t>specyficznosci (95%) chcemy wylapac tak duzo True Positives jak mozliwe.</a:t>
            </a:r>
          </a:p>
          <a:p>
            <a:r>
              <a:t>Focal Loss przesuwa gradient w kierunku wlasciwej klasyfikacji trudnych</a:t>
            </a:r>
          </a:p>
          <a:p>
            <a:r>
              <a:t>przypadkow pozytywnych — stad poprawa recallu przy danym progu specyficznosci.</a:t>
            </a:r>
          </a:p>
          <a:p>
            <a:r>
              <a:t>Nie zmienia dramatycznie AUROC (globalny ranking), ale poprawia kliniczne</a:t>
            </a:r>
          </a:p>
          <a:p>
            <a:r>
              <a:t>punkt decyzyjny.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CZEMU AKURAT ATTENTION A NIE DUAL POOLING?</a:t>
            </a:r>
          </a:p>
          <a:p>
            <a:r>
              <a:t>Dual pooling (osobne pule dla nodow sygnalow i notatek, konkatenowane) daje</a:t>
            </a:r>
          </a:p>
          <a:p>
            <a:r>
              <a:t>AUROC 0.846 — prawie tak dobry jak attention (0.844 bez focal, 0.850 z focal).</a:t>
            </a:r>
          </a:p>
          <a:p>
            <a:r>
              <a:t>Dual pooling ma lepsza kalibracje (Brier score 0.170 vs 0.195 dla attention).</a:t>
            </a:r>
          </a:p>
          <a:p>
            <a:r>
              <a:t>Attention pooling + focal loss daje najlepsze AUROC i sens@95spec.</a:t>
            </a:r>
          </a:p>
          <a:p>
            <a:r>
              <a:t>W zastosowaniach klinicznych gdzie zalezy nam na kalibracji (precyzja prawdopod.)</a:t>
            </a:r>
          </a:p>
          <a:p>
            <a:r>
              <a:t>dual pooling moze byc lepszym wyborem. Dla maksymalizacji AUROC — attention+focal.</a:t>
            </a:r>
          </a:p>
          <a:p/>
          <a:p>
            <a:r>
              <a:t>CO OZNACZA SENS@95SPEC = 0.388?</a:t>
            </a:r>
          </a:p>
          <a:p>
            <a:r>
              <a:t>Przy ustawieniu progu klasyfikacji tak ze 95% ocalonych jest poprawnie</a:t>
            </a:r>
          </a:p>
          <a:p>
            <a:r>
              <a:t>identyfikowanych jako "niskie ryzyko" (specificity=0.95) — model prawidlowo</a:t>
            </a:r>
          </a:p>
          <a:p>
            <a:r>
              <a:t>identyfikuje 38.8% pacjentow wysokiego ryzyka (sensitivity=0.388).</a:t>
            </a:r>
          </a:p>
          <a:p>
            <a:r>
              <a:t>W praktyce: ze 100 pacjentow smiertelnych na OIOM model oznaczy alarmem ~39 z nich</a:t>
            </a:r>
          </a:p>
          <a:p>
            <a:r>
              <a:t>przy tylko 5% falfyw alarmow wsrod ocalonych. To jest klinicznie uzyteczne —</a:t>
            </a:r>
          </a:p>
          <a:p>
            <a:r>
              <a:t>szczegolnie w srodowisku z ograniczonymi zasobami.</a:t>
            </a:r>
          </a:p>
          <a:p/>
          <a:p>
            <a:r>
              <a:t>DLACZEGO REDUCELRONPLATEAU A NIE COSINE DECAY?</a:t>
            </a:r>
          </a:p>
          <a:p>
            <a:r>
              <a:t>ReduceLROnPlateau monitoruje val_auroc i zmniejsza LR o polowe gdy brak</a:t>
            </a:r>
          </a:p>
          <a:p>
            <a:r>
              <a:t>poprawy przez 5 epok (patience=5, factor=0.5). Jest adaptacyjny — nie wymaga</a:t>
            </a:r>
          </a:p>
          <a:p>
            <a:r>
              <a:t>ustalonego harmonogramu. Cosine decay bylby odpowiedni gdybysmy znali dokladna</a:t>
            </a:r>
          </a:p>
          <a:p>
            <a:r>
              <a:t>liczbe epok z gory; tutaj early stopping z patience=15 przerywa trening</a:t>
            </a:r>
          </a:p>
          <a:p>
            <a:r>
              <a:t>w roznych momentach dla roznych eksperymentow.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POKAZUJE KRZYWA UCZENIA?</a:t>
            </a:r>
          </a:p>
          <a:p>
            <a:r>
              <a:t>Niebieski: val AUROC na zbiorze walidacyjnym po kazdej epoce.</a:t>
            </a:r>
          </a:p>
          <a:p>
            <a:r>
              <a:t>Szary (cienki): train loss (Focal Loss na zbiorze treningowym).</a:t>
            </a:r>
          </a:p>
          <a:p>
            <a:r>
              <a:t>Najlepszy punkt: zaznaczony granatowym krolkiem.</a:t>
            </a:r>
          </a:p>
          <a:p/>
          <a:p>
            <a:r>
              <a:t>CZY MODEL SIE PRZETRENOWUJE?</a:t>
            </a:r>
          </a:p>
          <a:p>
            <a:r>
              <a:t>Val AUROC stabilizuje sie okolo 0.845 od ~40 epoki i dalej nieznacznie rosnie.</a:t>
            </a:r>
          </a:p>
          <a:p>
            <a:r>
              <a:t>Train loss maleje monotonicznie — model dalej sie uczy, ale val AUROC nie</a:t>
            </a:r>
          </a:p>
          <a:p>
            <a:r>
              <a:t>spada — brak overfittingu. Dropout 0.3, early stopping patience=15 zapewniaja</a:t>
            </a:r>
          </a:p>
          <a:p>
            <a:r>
              <a:t>regularyzacje.</a:t>
            </a:r>
          </a:p>
          <a:p/>
          <a:p>
            <a:r>
              <a:t>DLACZEGO WYNIKI 10 I 14 SA ROZNE MIMO IDENTYCZNYCH HPARAMS?</a:t>
            </a:r>
          </a:p>
          <a:p>
            <a:r>
              <a:t>Version_10: AUROC 0.850, version_14: AUROC 0.848. Roznica 0.002 AUROC.</a:t>
            </a:r>
          </a:p>
          <a:p>
            <a:r>
              <a:t>To jest wariancja losowa — seed deterministyczny ale PyG/CUDA operacje</a:t>
            </a:r>
          </a:p>
          <a:p>
            <a:r>
              <a:t>mog miec niezbyt reprodukowalny wynik. Roznica mniejsza niz 0.003 jest</a:t>
            </a:r>
          </a:p>
          <a:p>
            <a:r>
              <a:t>nieistotna statystycznie. Oznacza to ze nasz wynik jest stabilny.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DOKLADNIE ROBI SOTA KTORE MY NIE ROBIMY?</a:t>
            </a:r>
          </a:p>
          <a:p>
            <a:r>
              <a:t>Modele SOTA na predykcji smiertelnosci (np. ClinicalBERT + temporal attention,</a:t>
            </a:r>
          </a:p>
          <a:p>
            <a:r>
              <a:t>MIMIC-Extract + transformer) uzywaja:</a:t>
            </a:r>
          </a:p>
          <a:p>
            <a:r>
              <a:t>1. End-to-end fine-tuning BERT z gradient checkpointing (eliminuje OOM)</a:t>
            </a:r>
          </a:p>
          <a:p>
            <a:r>
              <a:t>2. Multi-GPU distributed training (mozna trenowac batch_size=64+)</a:t>
            </a:r>
          </a:p>
          <a:p>
            <a:r>
              <a:t>3. Temporal attention zamiast GINEConv (lepsze modelowanie nieregularnych sygnalow)</a:t>
            </a:r>
          </a:p>
          <a:p>
            <a:r>
              <a:t>4. Czesto wiecej danych pomocniczych (leki, procedury) ktorych my nie uwzgledniamy</a:t>
            </a:r>
          </a:p>
          <a:p/>
          <a:p>
            <a:r>
              <a:t>DLACZEGO NIE MOZNA BYLO TEGO ZROBIC NA NASZYM SPRZECIE?</a:t>
            </a:r>
          </a:p>
          <a:p>
            <a:r>
              <a:t>RTX 4060 Laptop GPU: 8GB VRAM.</a:t>
            </a:r>
          </a:p>
          <a:p>
            <a:r>
              <a:t>Pelny E2E BERT (110M param) + batch=32 = ~12GB VRAM (OOM).</a:t>
            </a:r>
          </a:p>
          <a:p>
            <a:r>
              <a:t>Gradient checkpointing zmniejszyloby zu zycie 4x kosztem 30% spowolnienia —</a:t>
            </a:r>
          </a:p>
          <a:p>
            <a:r>
              <a:t>nie zaimplementowane w obecnej wersji. Na dedykowanym serwerze (A100 80GB) E2E</a:t>
            </a:r>
          </a:p>
          <a:p>
            <a:r>
              <a:t>byloby mozliwe w ~5-8 min/epoke zamiast crash.</a:t>
            </a:r>
          </a:p>
          <a:p/>
          <a:p>
            <a:r>
              <a:t>JAK MIERZYC WKLAD NASZEJ PRACY SKORO NIE BILIMY SOTA?</a:t>
            </a:r>
          </a:p>
          <a:p>
            <a:r>
              <a:t>1. Systematyczne ablacje: pokazujemy co konkretnie wnosi kazda skladowa</a:t>
            </a:r>
          </a:p>
          <a:p>
            <a:r>
              <a:t>2. Wykrycie i naprawa temporal leakage: metodologiczny wklad</a:t>
            </a:r>
          </a:p>
          <a:p>
            <a:r>
              <a:t>3. Dokumentacja negatywnych wynikow: wartosc dla powtarzalnosci nauki</a:t>
            </a:r>
          </a:p>
          <a:p>
            <a:r>
              <a:t>4. Efektywnosc parametrow: 65K param osiaga 96.6% wydajnosci SOTA (110M param)</a:t>
            </a:r>
          </a:p>
          <a:p>
            <a:r>
              <a:t>5. Otwarta reprodukowalna implementacja na MIMIC-IV 3.1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PODSUMOWANIE KLUCZOWYCH DECYZJI PROJEKTOWYCH:</a:t>
            </a:r>
          </a:p>
          <a:p/>
          <a:p>
            <a:r>
              <a:t>1. GINECONV: jedyny standardowy GNN oprocz PNA ktory natywnie obsluguje cechy</a:t>
            </a:r>
          </a:p>
          <a:p>
            <a:r>
              <a:t>   krawedzi. Delta_t jest kluczowe dla temporalnego kontekstu klinicznego.</a:t>
            </a:r>
          </a:p>
          <a:p/>
          <a:p>
            <a:r>
              <a:t>2. PHASE 1 ZAMIAST E2E: catastrophic forgetting potwierdza ze rzad wielkosci</a:t>
            </a:r>
          </a:p>
          <a:p>
            <a:r>
              <a:t>   roznica LR (1e-3 vs 5e-7) nie wystarczy. Zamrozenie reprezentacji zachowuje</a:t>
            </a:r>
          </a:p>
          <a:p>
            <a:r>
              <a:t>   wiedze zdobyta na 102K notatkach.</a:t>
            </a:r>
          </a:p>
          <a:p/>
          <a:p>
            <a:r>
              <a:t>3. INFONCE: efektywny batch-level contrastive loss. O(B^2) negatywnych par</a:t>
            </a:r>
          </a:p>
          <a:p>
            <a:r>
              <a:t>   vs O(B) w triplet loss przy tym samym koszcie obliczeniowym.</a:t>
            </a:r>
          </a:p>
          <a:p/>
          <a:p>
            <a:r>
              <a:t>4. TEMPORAL LEAKAGE: kluczowa lekcja metodologiczna. W danych medycznych</a:t>
            </a:r>
          </a:p>
          <a:p>
            <a:r>
              <a:t>   sekwencyjnych zawsze sprawdzaj kierunek czasu w preprocessingu.</a:t>
            </a:r>
          </a:p>
          <a:p/>
          <a:p>
            <a:r>
              <a:t>5. FOCAL LOSS: poprawia klinicznie istotna metryki (sens@95spec) nawet jesli</a:t>
            </a:r>
          </a:p>
          <a:p>
            <a:r>
              <a:t>   AUROC rosnie marginalnie. Wazne jesli model ma byc uzyteczny w praktyce.</a:t>
            </a:r>
          </a:p>
          <a:p/>
          <a:p>
            <a:r>
              <a:t>CZY PROJEKT JEST POWTARZALNY?</a:t>
            </a:r>
          </a:p>
          <a:p>
            <a:r>
              <a:t>Tak. Kod jest publiczny, dane dostepne przez PhysioNet po rejestracji.</a:t>
            </a:r>
          </a:p>
          <a:p>
            <a:r>
              <a:t>Seed deterministyczny (42). Szczegolowe logi w data/snapshots/gnn/.</a:t>
            </a:r>
          </a:p>
          <a:p>
            <a:r>
              <a:t>Jedyna potencjalna niereprodukowalnosc: niedeterministyczne operacje CUDA.</a:t>
            </a:r>
          </a:p>
          <a:p>
            <a:r>
              <a:t>Odchylenie standardowe miedzy uruchomieniami ~0.002 AUROC.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657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4F46E5"/>
                </a:solidFill>
                <a:latin typeface="Inter"/>
              </a:rPr>
              <a:t>GGSN  ·  2024/25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88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000" b="1" i="0">
                <a:solidFill>
                  <a:srgbClr val="0B0F1E"/>
                </a:solidFill>
                <a:latin typeface="Inter"/>
              </a:rPr>
              <a:t>Temporal 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800" b="0" i="0">
                <a:solidFill>
                  <a:srgbClr val="64748B"/>
                </a:solidFill>
                <a:latin typeface="Inter"/>
              </a:rPr>
              <a:t>dla predykcji śmiertelności szpitalnej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880360"/>
            <a:ext cx="85313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971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  <a:latin typeface="Inter"/>
              </a:rPr>
              <a:t>MIMIC-IV 3.1  ·  Bio_ClinicalBERT  ·  GINEConv  ·  Phase 1 + Phase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0996" y="3566160"/>
            <a:ext cx="301752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8156" y="36393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B0F1E"/>
                </a:solidFill>
                <a:latin typeface="Inter"/>
              </a:rPr>
              <a:t>52 727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2436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pobytów OIOM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5716" y="3566160"/>
            <a:ext cx="301752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876" y="36393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B0F1E"/>
                </a:solidFill>
                <a:latin typeface="Inter"/>
              </a:rPr>
              <a:t>12.7%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7156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śmiertelność
(1 : 6.9 imbalans)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0436" y="3566160"/>
            <a:ext cx="301752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7596" y="363931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6" y="4315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ablacji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5989320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Inter"/>
              </a:rPr>
              <a:t>Temporal GNN  ·  MIMIC-IV 3.1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080760"/>
            <a:ext cx="5285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Inter"/>
              </a:rPr>
              <a:t>GGSN 2024/25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Trzy główne wyzwania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00200"/>
            <a:ext cx="6858000" cy="100584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0B0F1E"/>
                </a:solidFill>
                <a:latin typeface="Inter"/>
              </a:rPr>
              <a:t>Dane heterogeniczne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notatki lekarskie + sygnały fizjologiczne + kody ICD-10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6858000" cy="100584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0B0F1E"/>
                </a:solidFill>
                <a:latin typeface="Inter"/>
              </a:rPr>
              <a:t>Nierównoważne klasy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1 : 6.9 — 5 343 zgony / 36 853 przeżycia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6858000" cy="100584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0B0F1E"/>
                </a:solidFill>
                <a:latin typeface="Inter"/>
              </a:rPr>
              <a:t>Temporal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445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latwo nieumyslnie 'widziec przyszlosc' w danych sekwencyjnych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36576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6733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EF4444"/>
                </a:solidFill>
                <a:latin typeface="Inter"/>
              </a:rPr>
              <a:t>1 : 6.9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350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imbalans klas
pos_weight = 6.897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971800"/>
            <a:ext cx="36576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0449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64748B"/>
                </a:solidFill>
                <a:latin typeface="Inter"/>
              </a:rPr>
              <a:t>0.127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721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AUPRC random
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343400"/>
            <a:ext cx="36576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4165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64748B"/>
                </a:solidFill>
                <a:latin typeface="Inter"/>
              </a:rPr>
              <a:t>0.500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93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AUROC random
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DANE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MIMIC-IV 3.1 — trzy modalności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91640"/>
            <a:ext cx="3383280" cy="411480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0B0F1E"/>
                </a:solidFill>
                <a:latin typeface="Inter"/>
              </a:rPr>
              <a:t>Notatki kliniczne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i="0">
                <a:solidFill>
                  <a:srgbClr val="4F46E5"/>
                </a:solidFill>
                <a:latin typeface="Inter"/>
              </a:rPr>
              <a:t>102 221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unikalnych notatek
Bio_ClinicalBERT tokenizacja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383280" cy="411480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0B0F1E"/>
                </a:solidFill>
                <a:latin typeface="Inter"/>
              </a:rPr>
              <a:t>Sygnały fizjologiczne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i="0">
                <a:solidFill>
                  <a:srgbClr val="4F46E5"/>
                </a:solidFill>
                <a:latin typeface="Inter"/>
              </a:rPr>
              <a:t>55.7M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wierszy (vitals + labs)
14 typów: HR, SpO₂, MAP,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691640"/>
            <a:ext cx="3383280" cy="411480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0B0F1E"/>
                </a:solidFill>
                <a:latin typeface="Inter"/>
              </a:rPr>
              <a:t>Diagnozy ICD-10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i="0">
                <a:solidFill>
                  <a:srgbClr val="4F46E5"/>
                </a:solidFill>
                <a:latin typeface="Inter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kategorii Charlson
binarny wektor per pobyt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43600"/>
            <a:ext cx="10908792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4F46E5"/>
                </a:solidFill>
                <a:latin typeface="Inter"/>
              </a:rPr>
              <a:t>Podział subject-disjoint — pacjent nigdy jednocześnie w zbiorze treningowym i walidacyjnym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ARCHITEKTURA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Dwufazowe podejście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91640"/>
            <a:ext cx="5029200" cy="411480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4F46E5"/>
                </a:solidFill>
                <a:latin typeface="Inter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0B0F1E"/>
                </a:solidFill>
                <a:latin typeface="Inter"/>
              </a:rPr>
              <a:t>Contrastive Pre-training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Two-Tower (TextTower + SignalTower)
InfoNCE · τ=0.07 · grad accum (eff. batch 64)
→ 102K zamrożonych embeddingów 128-dim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5029200" cy="41148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10B981"/>
                </a:solidFill>
                <a:latin typeface="Inter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0B0F1E"/>
                </a:solidFill>
                <a:latin typeface="Inter"/>
              </a:rPr>
              <a:t>Temporal Heterogeneous GNN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 i="0">
                <a:solidFill>
                  <a:srgbClr val="64748B"/>
                </a:solidFill>
                <a:latin typeface="Inter"/>
              </a:rPr>
              <a:t>Graf pacjenta (signal + note + ICD nody)
GINEConv×3 · attention pooling
Focal Loss · demographics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600" b="1" i="0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943600"/>
            <a:ext cx="10908792" cy="64008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92400E"/>
                </a:solidFill>
                <a:latin typeface="Inter"/>
              </a:rPr>
              <a:t>Wynik: AUROC 0.850 · AUPRC 0.465 · ~64 700 parametrów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Contrastive Pre-training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772400" cy="36859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78240" y="1645920"/>
            <a:ext cx="338328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2.980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best val InfoNCE
(−28.3% vs 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3017520"/>
            <a:ext cx="338328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30906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10B981"/>
                </a:solidFill>
                <a:latin typeface="Inter"/>
              </a:rPr>
              <a:t>0.730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767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linear probe AUROC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4389120"/>
            <a:ext cx="338328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4622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6B6D4"/>
                </a:solidFill>
                <a:latin typeface="Inter"/>
              </a:rPr>
              <a:t>102 221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138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zamrożonych embeddingów
(128-dim)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Inter"/>
              </a:rPr>
              <a:t>Trening: Bio_ClinicalBERT (top 4/12 fine-tunowane) · 16 epok · early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PHASE 2 — GRAF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Budowanie grafu pacjenta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3865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40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Krawędzie skierowane tylko do przodu w czasie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Atrybut krawędzi: Δt/24 (różnica w dobach)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ICD node (t=−1h) ← wiedza a priori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PHASE 2 — GNN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Architektura sieci grafowej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4245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Inter"/>
              </a:rPr>
              <a:t>Implementacja: PyTorch Lightning + PyTorch Geometric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WYKRYTY BŁĄD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0B0F1E"/>
                </a:solidFill>
                <a:latin typeface="Inter"/>
              </a:rPr>
              <a:t>Temporal Leakage — AUROC 0.931 = alarm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303520" cy="31770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645920"/>
            <a:ext cx="5029200" cy="219456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EF4444"/>
                </a:solidFill>
                <a:latin typeface="Inter"/>
              </a:rPr>
              <a:t>Stary kod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64748B"/>
                </a:solidFill>
                <a:latin typeface="Inter"/>
              </a:rPr>
              <a:t>sig_rows[-max_signals:]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= ostatnie N sygnałów = sygnały tuż przed śmiercią
AUROC 0.931 — trivially easy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023360"/>
            <a:ext cx="5029200" cy="219456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10B981"/>
                </a:solidFill>
                <a:latin typeface="Inter"/>
              </a:rPr>
              <a:t>Poprawka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64748B"/>
                </a:solidFill>
                <a:latin typeface="Inter"/>
              </a:rPr>
              <a:t>sig_rows[:max_signals]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= pierwsze N sygnałów = wczesna faza pobytu
AUROC 0.820 — realny wynik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AUROC — 13 eksperymentów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508760"/>
            <a:ext cx="10058400" cy="4570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AUPRC — 3.6× powyżej losowego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508760"/>
            <a:ext cx="10058400" cy="4831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Inter"/>
              </a:rPr>
              <a:t>AUPRC ważniejsza niż AUROC przy silnym imbalansie klas (1:7)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ANALIZA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Wkład każdego komponentu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400800" cy="35367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69480" y="1554480"/>
            <a:ext cx="4297680" cy="228600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91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0B981"/>
                </a:solidFill>
                <a:latin typeface="Inter"/>
              </a:rPr>
              <a:t>Co działa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Notatki kliniczne:  +0.045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6887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Demografika:  +0.012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8346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Attention pooling:  +0.015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200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Focal loss:  lepsza sens@95spec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4023360"/>
            <a:ext cx="4297680" cy="2286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F4444"/>
                </a:solidFill>
                <a:latin typeface="Inter"/>
              </a:rPr>
              <a:t>Co nie działa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5720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Hard negatives: catastrophic forgetting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9377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ICD node: 56% stays =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3035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All-stay signals: nie bije ±2h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6692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E2E BERT: catastrophic forgetting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NAJLEPSZY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600" b="1" i="0">
                <a:solidFill>
                  <a:srgbClr val="0B0F1E"/>
                </a:solidFill>
                <a:latin typeface="Inter"/>
              </a:rPr>
              <a:t>demo_attention_focal2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64592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0.850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AUROC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64592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71907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10B981"/>
                </a:solidFill>
                <a:latin typeface="Inter"/>
              </a:rPr>
              <a:t>0.465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957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AUPRC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45920"/>
            <a:ext cx="448056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19072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06B6D4"/>
                </a:solidFill>
                <a:latin typeface="Inter"/>
              </a:rPr>
              <a:t>0.388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3957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sens @ 95% spec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08792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4F46E5"/>
                </a:solidFill>
                <a:latin typeface="Inter"/>
              </a:rPr>
              <a:t>Konfiguracja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20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Pooling: 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Focal loss γ =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Demographics (4-dim, graph-level po poolingu)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hidden_dim = 128 · 3× GINEConv · dropout 0.3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F46E5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1F293A"/>
                </a:solidFill>
                <a:latin typeface="Inter"/>
              </a:rPr>
              <a:t>Optymizator: Adam · lr = 1e-3 · ReduceLROnPlateau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2356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9671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4F46E5"/>
                </a:solidFill>
                <a:latin typeface="Inter"/>
              </a:rPr>
              <a:t>3.6×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733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AUPRC powyżej
losowego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5623560"/>
            <a:ext cx="320040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569671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EF4444"/>
                </a:solidFill>
                <a:latin typeface="Inter"/>
              </a:rPr>
              <a:t>1:7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3733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imbalans klas
(pos_weight=6.9)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5623560"/>
            <a:ext cx="4480560" cy="1188720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5696712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64748B"/>
                </a:solidFill>
                <a:latin typeface="Inter"/>
              </a:rPr>
              <a:t>~65K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63733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Inter"/>
              </a:rPr>
              <a:t>parametrów
(vs 110M BERT)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WALIDACJA MODELU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0B0F1E"/>
                </a:solidFill>
                <a:latin typeface="Inter"/>
              </a:rPr>
              <a:t>Krzywa uczenia — brak overfittingu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554480"/>
            <a:ext cx="10058400" cy="45678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94A3B8"/>
                </a:solidFill>
                <a:latin typeface="Inter"/>
              </a:rPr>
              <a:t>val AUROC plateauje ~0.845, train loss dalej maleje — model uczy się bez nadmiernego dopasowania. Early stopping (patience=15) potwierdza stabilność.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KONTEKST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Nasz wynik vs SOTA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303520" cy="31459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645920"/>
            <a:ext cx="5029200" cy="20116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F4444"/>
                </a:solidFill>
                <a:latin typeface="Inter"/>
              </a:rPr>
              <a:t>Dlaczego gap 0.030?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SOTA: end-to-end BERT (110M params, multi-GPU)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My: zamrożone embeddingi →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E2E próbowane → catastrophic forgetting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840480"/>
            <a:ext cx="5029200" cy="228600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0B981"/>
                </a:solidFill>
                <a:latin typeface="Inter"/>
              </a:rPr>
              <a:t>Dlaczego to dobry wynik?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434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~65K params vs 110M BERT — ~1 700× mniejszy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809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AUPRC 0.465 = 3.6× powyżej losowego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1846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13 ablacji — wkład każdego komponentu zmierzony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559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1F293A"/>
                </a:solidFill>
                <a:latin typeface="Inter"/>
              </a:rPr>
              <a:t>Negatywne wyniki też opisane (E2E, ICD, hard negs)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371600" cy="256032"/>
          </a:xfrm>
          <a:prstGeom prst="rect">
            <a:avLst/>
          </a:prstGeom>
          <a:solidFill>
            <a:srgbClr val="EEECFB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F46E5"/>
                </a:solidFill>
                <a:latin typeface="Inter"/>
              </a:rPr>
              <a:t>WNIOSKI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 i="0">
                <a:solidFill>
                  <a:srgbClr val="0B0F1E"/>
                </a:solidFill>
                <a:latin typeface="Inter"/>
              </a:rPr>
              <a:t>5 kluczowych lekcji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71600"/>
            <a:ext cx="1090879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508760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4F46E5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636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Multimodalne GNN działają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Ablacja signal_only: notatki kliniczne dają +0.045 AUROC — obie modalności są kluczowe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41448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10B981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Phase 1 pre-training → dobre zamrożone reprezentacje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E2E fine-tuning niszczy reprezentacje (catastrophic forgetting, AUROC 0.790 &lt; 0.829)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74136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472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Temporal leakage jest subtelny i łatwy do przeoczenia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673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Ostatnie N sygnałów = sygnały przed śmiercią → AUROC 0.931 (artefakt). Pierwsze N → 0.820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06824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7997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06B6D4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616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Demografika to prosty ale skuteczny bonus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0001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4 cechy [wiek, płeć, tryb przyjęcia] dają +0.012 AUROC jako graph-level feature po poolingu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39512"/>
            <a:ext cx="10908792" cy="804672"/>
          </a:xfrm>
          <a:prstGeom prst="rect">
            <a:avLst/>
          </a:prstGeom>
          <a:solidFill>
            <a:srgbClr val="EEEC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12664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200" b="1" i="0">
                <a:solidFill>
                  <a:srgbClr val="EF4444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943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0B0F1E"/>
                </a:solidFill>
                <a:latin typeface="Inter"/>
              </a:rPr>
              <a:t>Negatywne wyniki potwierdziły dobór finalnego stacku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3270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64748B"/>
                </a:solidFill>
                <a:latin typeface="Inter"/>
              </a:rPr>
              <a:t>Hard negatives, ICD node, all-stay signals, E2E — każde gorsze od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